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6" r:id="rId3"/>
    <p:sldId id="257" r:id="rId4"/>
    <p:sldId id="258" r:id="rId5"/>
    <p:sldId id="259"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ystem-3" initials="S" lastIdx="0" clrIdx="0">
    <p:extLst>
      <p:ext uri="{19B8F6BF-5375-455C-9EA6-DF929625EA0E}">
        <p15:presenceInfo xmlns:p15="http://schemas.microsoft.com/office/powerpoint/2012/main" userId="System-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6DC62D-668B-46BC-9A12-596A251012BD}"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3218700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6DC62D-668B-46BC-9A12-596A251012BD}"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1029214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6DC62D-668B-46BC-9A12-596A251012BD}"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2606667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6DC62D-668B-46BC-9A12-596A251012BD}"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82306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6DC62D-668B-46BC-9A12-596A251012BD}"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297761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6DC62D-668B-46BC-9A12-596A251012BD}"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35090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DC62D-668B-46BC-9A12-596A251012BD}"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665214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6DC62D-668B-46BC-9A12-596A251012BD}"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1725736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6DC62D-668B-46BC-9A12-596A251012BD}"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1362368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6DC62D-668B-46BC-9A12-596A251012BD}"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869030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6DC62D-668B-46BC-9A12-596A251012BD}"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CAC326-F746-4712-8C7E-EDFD245FCA72}" type="slidenum">
              <a:rPr lang="en-US" smtClean="0"/>
              <a:t>‹#›</a:t>
            </a:fld>
            <a:endParaRPr lang="en-US"/>
          </a:p>
        </p:txBody>
      </p:sp>
    </p:spTree>
    <p:extLst>
      <p:ext uri="{BB962C8B-B14F-4D97-AF65-F5344CB8AC3E}">
        <p14:creationId xmlns:p14="http://schemas.microsoft.com/office/powerpoint/2010/main" val="420764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DC62D-668B-46BC-9A12-596A251012BD}" type="datetimeFigureOut">
              <a:rPr lang="en-US" smtClean="0"/>
              <a:t>9/29/2026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CAC326-F746-4712-8C7E-EDFD245FCA72}" type="slidenum">
              <a:rPr lang="en-US" smtClean="0"/>
              <a:t>‹#›</a:t>
            </a:fld>
            <a:endParaRPr lang="en-US"/>
          </a:p>
        </p:txBody>
      </p:sp>
    </p:spTree>
    <p:extLst>
      <p:ext uri="{BB962C8B-B14F-4D97-AF65-F5344CB8AC3E}">
        <p14:creationId xmlns:p14="http://schemas.microsoft.com/office/powerpoint/2010/main" val="667735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81291" y="1183714"/>
            <a:ext cx="2577950" cy="830997"/>
          </a:xfrm>
          <a:prstGeom prst="rect">
            <a:avLst/>
          </a:prstGeom>
        </p:spPr>
        <p:txBody>
          <a:bodyPr wrap="none">
            <a:spAutoFit/>
          </a:bodyPr>
          <a:lstStyle/>
          <a:p>
            <a:r>
              <a:rPr lang="en-US" sz="4800" dirty="0"/>
              <a:t>TN SKILLS</a:t>
            </a:r>
          </a:p>
        </p:txBody>
      </p:sp>
      <p:sp>
        <p:nvSpPr>
          <p:cNvPr id="3" name="Rectangle 2"/>
          <p:cNvSpPr/>
          <p:nvPr/>
        </p:nvSpPr>
        <p:spPr>
          <a:xfrm>
            <a:off x="2601532" y="2240924"/>
            <a:ext cx="8669639" cy="523220"/>
          </a:xfrm>
          <a:prstGeom prst="rect">
            <a:avLst/>
          </a:prstGeom>
        </p:spPr>
        <p:txBody>
          <a:bodyPr wrap="square">
            <a:spAutoFit/>
          </a:bodyPr>
          <a:lstStyle/>
          <a:p>
            <a:r>
              <a:rPr lang="en-US" sz="2800" dirty="0" err="1"/>
              <a:t>ComicCraft</a:t>
            </a:r>
            <a:r>
              <a:rPr lang="en-US" sz="2800" dirty="0"/>
              <a:t>-AI: Comic Story Creator Using Gemini Models</a:t>
            </a:r>
          </a:p>
        </p:txBody>
      </p:sp>
    </p:spTree>
    <p:extLst>
      <p:ext uri="{BB962C8B-B14F-4D97-AF65-F5344CB8AC3E}">
        <p14:creationId xmlns:p14="http://schemas.microsoft.com/office/powerpoint/2010/main" val="167763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3183" y="953036"/>
            <a:ext cx="11779876" cy="5509200"/>
          </a:xfrm>
          <a:prstGeom prst="rect">
            <a:avLst/>
          </a:prstGeom>
        </p:spPr>
        <p:txBody>
          <a:bodyPr wrap="square">
            <a:spAutoFit/>
          </a:bodyPr>
          <a:lstStyle/>
          <a:p>
            <a:pPr algn="just"/>
            <a:r>
              <a:rPr lang="en-US" sz="2800" b="1" dirty="0" smtClean="0"/>
              <a:t>                                   </a:t>
            </a:r>
          </a:p>
          <a:p>
            <a:pPr marL="285750" indent="-285750" algn="just">
              <a:buFont typeface="Wingdings" panose="05000000000000000000" pitchFamily="2" charset="2"/>
              <a:buChar char="Ø"/>
            </a:pPr>
            <a:r>
              <a:rPr lang="en-US" dirty="0" smtClean="0"/>
              <a:t> The brainstorming and ideation phase identifies the problem, target users, possible features, and overall concept of </a:t>
            </a:r>
            <a:r>
              <a:rPr lang="en-US" dirty="0" err="1" smtClean="0"/>
              <a:t>ComicCraft</a:t>
            </a:r>
            <a:r>
              <a:rPr lang="en-US" dirty="0" smtClean="0"/>
              <a:t>. The team discusses how generative AI can reduce the difficulty of writing comic stories and organize creative ideas into a usable comic format. </a:t>
            </a:r>
          </a:p>
          <a:p>
            <a:pPr algn="just"/>
            <a:endParaRPr lang="en-US" dirty="0"/>
          </a:p>
          <a:p>
            <a:pPr marL="285750" indent="-285750" algn="just">
              <a:buFont typeface="Wingdings" panose="05000000000000000000" pitchFamily="2" charset="2"/>
              <a:buChar char="Ø"/>
            </a:pPr>
            <a:r>
              <a:rPr lang="en-US" dirty="0" smtClean="0"/>
              <a:t>Problem Identification Many beginners have comic ideas but find it difficult to develop a complete story, create meaningful characters, write dialogues, maintain continuity, and divide a story into suitable comic panels. Traditional story-writing also requires time and creative experience. </a:t>
            </a:r>
          </a:p>
          <a:p>
            <a:pPr algn="just"/>
            <a:endParaRPr lang="en-US" dirty="0"/>
          </a:p>
          <a:p>
            <a:pPr marL="285750" indent="-285750" algn="just">
              <a:buFont typeface="Wingdings" panose="05000000000000000000" pitchFamily="2" charset="2"/>
              <a:buChar char="Ø"/>
            </a:pPr>
            <a:r>
              <a:rPr lang="en-US" dirty="0" smtClean="0"/>
              <a:t> Proposed Solution </a:t>
            </a:r>
            <a:r>
              <a:rPr lang="en-US" dirty="0" err="1" smtClean="0"/>
              <a:t>ComicCraft</a:t>
            </a:r>
            <a:r>
              <a:rPr lang="en-US" dirty="0" smtClean="0"/>
              <a:t> accepts a simple user prompt such as a theme, character idea, genre, setting, or short story concept. Gemini models process the prompt and generate a structured comic story containing a title, characters, plot, scenes, dialogues, narration, and panel descriptions.</a:t>
            </a:r>
          </a:p>
          <a:p>
            <a:pPr algn="just"/>
            <a:endParaRPr lang="en-US" dirty="0"/>
          </a:p>
          <a:p>
            <a:pPr marL="285750" indent="-285750" algn="just">
              <a:buFont typeface="Wingdings" panose="05000000000000000000" pitchFamily="2" charset="2"/>
              <a:buChar char="Ø"/>
            </a:pPr>
            <a:r>
              <a:rPr lang="en-US" dirty="0" smtClean="0"/>
              <a:t> Brainstormed Features Important proposed features include prompt-based story generation, genre selection, character creation, scene generation, dialogue generation, story continuation, editing and regeneration, panel-wise organization, and export or presentation of the generated comic script. </a:t>
            </a:r>
          </a:p>
          <a:p>
            <a:pPr algn="just"/>
            <a:endParaRPr lang="en-US" dirty="0"/>
          </a:p>
          <a:p>
            <a:pPr marL="285750" indent="-285750" algn="just">
              <a:buFont typeface="Wingdings" panose="05000000000000000000" pitchFamily="2" charset="2"/>
              <a:buChar char="Ø"/>
            </a:pPr>
            <a:r>
              <a:rPr lang="en-US" dirty="0" smtClean="0"/>
              <a:t>Target Users The application can be used by students for creative assignments, teachers for classroom activities, aspiring comic writers, content creators, and general users who want to experiment with AI-assisted storytelling. </a:t>
            </a:r>
            <a:endParaRPr lang="en-US" dirty="0"/>
          </a:p>
        </p:txBody>
      </p:sp>
      <p:sp>
        <p:nvSpPr>
          <p:cNvPr id="6" name="Rectangle 5"/>
          <p:cNvSpPr/>
          <p:nvPr/>
        </p:nvSpPr>
        <p:spPr>
          <a:xfrm>
            <a:off x="2733358" y="429816"/>
            <a:ext cx="6699526" cy="523220"/>
          </a:xfrm>
          <a:prstGeom prst="rect">
            <a:avLst/>
          </a:prstGeom>
        </p:spPr>
        <p:txBody>
          <a:bodyPr wrap="none">
            <a:spAutoFit/>
          </a:bodyPr>
          <a:lstStyle/>
          <a:p>
            <a:r>
              <a:rPr lang="en-US" sz="2800" dirty="0" smtClean="0">
                <a:latin typeface="Arial Black" panose="020B0A04020102020204" pitchFamily="34" charset="0"/>
              </a:rPr>
              <a:t> Brainstorming &amp; Ideation Phase </a:t>
            </a:r>
            <a:endParaRPr lang="en-US" sz="2800" dirty="0">
              <a:latin typeface="Arial Black" panose="020B0A04020102020204" pitchFamily="34" charset="0"/>
            </a:endParaRPr>
          </a:p>
        </p:txBody>
      </p:sp>
    </p:spTree>
    <p:extLst>
      <p:ext uri="{BB962C8B-B14F-4D97-AF65-F5344CB8AC3E}">
        <p14:creationId xmlns:p14="http://schemas.microsoft.com/office/powerpoint/2010/main" val="15599297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83434"/>
            <a:ext cx="12054625" cy="5632311"/>
          </a:xfrm>
          <a:prstGeom prst="rect">
            <a:avLst/>
          </a:prstGeom>
        </p:spPr>
        <p:txBody>
          <a:bodyPr wrap="square">
            <a:spAutoFit/>
          </a:bodyPr>
          <a:lstStyle/>
          <a:p>
            <a:pPr lvl="8" algn="just"/>
            <a:r>
              <a:rPr lang="en-US" dirty="0">
                <a:latin typeface="Arial Black" panose="020B0A04020102020204" pitchFamily="34" charset="0"/>
              </a:rPr>
              <a:t> </a:t>
            </a:r>
            <a:r>
              <a:rPr lang="en-US" dirty="0" smtClean="0">
                <a:latin typeface="Arial Black" panose="020B0A04020102020204" pitchFamily="34" charset="0"/>
              </a:rPr>
              <a:t>Requirement Analysis Phase</a:t>
            </a:r>
            <a:endParaRPr lang="en-US" dirty="0"/>
          </a:p>
          <a:p>
            <a:pPr lvl="1" algn="just"/>
            <a:endParaRPr lang="en-US" dirty="0" smtClean="0"/>
          </a:p>
          <a:p>
            <a:pPr marL="285750" indent="-285750" algn="just">
              <a:buFont typeface="Wingdings" panose="05000000000000000000" pitchFamily="2" charset="2"/>
              <a:buChar char="Ø"/>
            </a:pPr>
            <a:r>
              <a:rPr lang="en-US" dirty="0" smtClean="0"/>
              <a:t> Requirement analysis converts the project idea into clear functional and non-functional requirements. It identifies what the user should be able to do and what qualities the system should provide.</a:t>
            </a:r>
          </a:p>
          <a:p>
            <a:pPr algn="just"/>
            <a:endParaRPr lang="en-US" dirty="0"/>
          </a:p>
          <a:p>
            <a:pPr marL="285750" indent="-285750" algn="just">
              <a:buFont typeface="Wingdings" panose="05000000000000000000" pitchFamily="2" charset="2"/>
              <a:buChar char="Ø"/>
            </a:pPr>
            <a:r>
              <a:rPr lang="en-US" dirty="0" smtClean="0"/>
              <a:t> Functional Requirements The system should allow users to enter a story prompt, select a genre or theme, generate a comic story, create character descriptions, generate scenes and dialogues, regenerate selected content, edit generated text, and view the output in an organized format. </a:t>
            </a:r>
          </a:p>
          <a:p>
            <a:pPr algn="just"/>
            <a:endParaRPr lang="en-US" dirty="0"/>
          </a:p>
          <a:p>
            <a:pPr marL="285750" indent="-285750" algn="just">
              <a:buFont typeface="Wingdings" panose="05000000000000000000" pitchFamily="2" charset="2"/>
              <a:buChar char="Ø"/>
            </a:pPr>
            <a:r>
              <a:rPr lang="en-US" dirty="0" smtClean="0"/>
              <a:t> AI Requirements Gemini models should receive structured prompts and return useful creative content. The application should provide appropriate context to maintain character names, settings, tone, and story continuity. Prompt templates can be used to request predictable output sections such as title, characters, panels, narration, and dialogue. </a:t>
            </a:r>
          </a:p>
          <a:p>
            <a:pPr algn="just"/>
            <a:endParaRPr lang="en-US" dirty="0"/>
          </a:p>
          <a:p>
            <a:pPr marL="285750" indent="-285750" algn="just">
              <a:buFont typeface="Wingdings" panose="05000000000000000000" pitchFamily="2" charset="2"/>
              <a:buChar char="Ø"/>
            </a:pPr>
            <a:r>
              <a:rPr lang="en-US" dirty="0" smtClean="0"/>
              <a:t>Non-Functional Requirements The application should be user-friendly, responsive, reliable, maintainable, scalable, and reasonably fast. Generated content should be clearly displayed and errors should be handled gracefully. </a:t>
            </a:r>
          </a:p>
          <a:p>
            <a:pPr algn="just"/>
            <a:endParaRPr lang="en-US" dirty="0"/>
          </a:p>
          <a:p>
            <a:pPr marL="285750" indent="-285750" algn="just">
              <a:buFont typeface="Wingdings" panose="05000000000000000000" pitchFamily="2" charset="2"/>
              <a:buChar char="Ø"/>
            </a:pPr>
            <a:r>
              <a:rPr lang="en-US" dirty="0" smtClean="0"/>
              <a:t> Hardware and Software Requirements A normal computer or smartphone with internet access is sufficient for the client side. Software requirements may include a modern web browser, development environment, application framework, Gemini API access, and a suitable programming language such as Python or JavaScript.</a:t>
            </a:r>
          </a:p>
          <a:p>
            <a:pPr algn="just"/>
            <a:endParaRPr lang="en-US" dirty="0"/>
          </a:p>
        </p:txBody>
      </p:sp>
    </p:spTree>
    <p:extLst>
      <p:ext uri="{BB962C8B-B14F-4D97-AF65-F5344CB8AC3E}">
        <p14:creationId xmlns:p14="http://schemas.microsoft.com/office/powerpoint/2010/main" val="710432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85128" y="321972"/>
            <a:ext cx="6096000" cy="369332"/>
          </a:xfrm>
          <a:prstGeom prst="rect">
            <a:avLst/>
          </a:prstGeom>
        </p:spPr>
        <p:txBody>
          <a:bodyPr>
            <a:spAutoFit/>
          </a:bodyPr>
          <a:lstStyle/>
          <a:p>
            <a:r>
              <a:rPr lang="en-US" dirty="0" smtClean="0">
                <a:latin typeface="Arial Black" panose="020B0A04020102020204" pitchFamily="34" charset="0"/>
              </a:rPr>
              <a:t>Project Design Phase</a:t>
            </a:r>
            <a:endParaRPr lang="en-US" dirty="0">
              <a:latin typeface="Arial Black" panose="020B0A04020102020204" pitchFamily="34" charset="0"/>
            </a:endParaRPr>
          </a:p>
        </p:txBody>
      </p:sp>
      <p:sp>
        <p:nvSpPr>
          <p:cNvPr id="4" name="Rectangle 3"/>
          <p:cNvSpPr/>
          <p:nvPr/>
        </p:nvSpPr>
        <p:spPr>
          <a:xfrm>
            <a:off x="1335110" y="1109306"/>
            <a:ext cx="9933904" cy="4801314"/>
          </a:xfrm>
          <a:prstGeom prst="rect">
            <a:avLst/>
          </a:prstGeom>
        </p:spPr>
        <p:txBody>
          <a:bodyPr wrap="square">
            <a:spAutoFit/>
          </a:bodyPr>
          <a:lstStyle/>
          <a:p>
            <a:pPr marL="285750" indent="-285750" algn="just">
              <a:buFont typeface="Wingdings" panose="05000000000000000000" pitchFamily="2" charset="2"/>
              <a:buChar char="Ø"/>
            </a:pPr>
            <a:r>
              <a:rPr lang="en-US" dirty="0" err="1" smtClean="0"/>
              <a:t>ComicCraft</a:t>
            </a:r>
            <a:r>
              <a:rPr lang="en-US" dirty="0" smtClean="0"/>
              <a:t> can be designed as a layered application. The user interface collects inputs, the application layer validates requests and constructs prompts, the Gemini service generates content, and the presentation layer formats the response as a comic story.</a:t>
            </a:r>
          </a:p>
          <a:p>
            <a:pPr algn="just"/>
            <a:endParaRPr lang="en-US" dirty="0"/>
          </a:p>
          <a:p>
            <a:pPr marL="285750" indent="-285750" algn="just">
              <a:buFont typeface="Wingdings" panose="05000000000000000000" pitchFamily="2" charset="2"/>
              <a:buChar char="Ø"/>
            </a:pPr>
            <a:r>
              <a:rPr lang="en-US" dirty="0" smtClean="0"/>
              <a:t>The main components are User Interface, Prompt Manager, Gemini API Integration, Story Generator, Character Manager, Scene and Dialogue Generator, Output Formatter, and Error Handler.</a:t>
            </a:r>
          </a:p>
          <a:p>
            <a:pPr algn="just"/>
            <a:endParaRPr lang="en-US" dirty="0" smtClean="0"/>
          </a:p>
          <a:p>
            <a:pPr marL="285750" indent="-285750" algn="just">
              <a:buFont typeface="Wingdings" panose="05000000000000000000" pitchFamily="2" charset="2"/>
              <a:buChar char="Ø"/>
            </a:pPr>
            <a:r>
              <a:rPr lang="en-US" dirty="0" smtClean="0"/>
              <a:t>The user opens </a:t>
            </a:r>
            <a:r>
              <a:rPr lang="en-US" dirty="0" err="1" smtClean="0"/>
              <a:t>ComicCraft</a:t>
            </a:r>
            <a:r>
              <a:rPr lang="en-US" dirty="0" smtClean="0"/>
              <a:t>, enters a story idea, chooses optional settings, submits the request, and waits for the AI response. The application displays the generated title, characters, scenes, narration, and dialogues. The user can edit or regenerate content and finally save or present the result.</a:t>
            </a:r>
          </a:p>
          <a:p>
            <a:pPr algn="just"/>
            <a:endParaRPr lang="en-US" dirty="0" smtClean="0"/>
          </a:p>
          <a:p>
            <a:pPr marL="285750" indent="-285750" algn="just">
              <a:buFont typeface="Wingdings" panose="05000000000000000000" pitchFamily="2" charset="2"/>
              <a:buChar char="Ø"/>
            </a:pPr>
            <a:r>
              <a:rPr lang="en-US" dirty="0" smtClean="0"/>
              <a:t>The interface should contain a prompt box, genre selector, character/settings fields, generate button, loading indicator, result area, edit/regenerate controls, and optional export feature.</a:t>
            </a:r>
          </a:p>
          <a:p>
            <a:pPr algn="just"/>
            <a:endParaRPr lang="en-US" dirty="0" smtClean="0"/>
          </a:p>
          <a:p>
            <a:pPr marL="285750" indent="-285750" algn="just">
              <a:buFont typeface="Wingdings" panose="05000000000000000000" pitchFamily="2" charset="2"/>
              <a:buChar char="Ø"/>
            </a:pPr>
            <a:r>
              <a:rPr lang="en-US" dirty="0" smtClean="0"/>
              <a:t>User prompt → input validation → prompt construction → Gemini model → generated response → response parsing/formatting → comic display. Errors or incomplete responses are routed to an error-handling component.</a:t>
            </a:r>
            <a:endParaRPr lang="en-US" dirty="0"/>
          </a:p>
        </p:txBody>
      </p:sp>
    </p:spTree>
    <p:extLst>
      <p:ext uri="{BB962C8B-B14F-4D97-AF65-F5344CB8AC3E}">
        <p14:creationId xmlns:p14="http://schemas.microsoft.com/office/powerpoint/2010/main" val="33140638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3848" y="167425"/>
            <a:ext cx="9144000" cy="656823"/>
          </a:xfrm>
        </p:spPr>
        <p:txBody>
          <a:bodyPr>
            <a:normAutofit/>
          </a:bodyPr>
          <a:lstStyle/>
          <a:p>
            <a:r>
              <a:rPr lang="en-US" sz="2800" dirty="0" smtClean="0">
                <a:latin typeface="Arial Black" panose="020B0A04020102020204" pitchFamily="34" charset="0"/>
              </a:rPr>
              <a:t>Project Planning Phase</a:t>
            </a:r>
            <a:r>
              <a:rPr lang="en-US" sz="2800" dirty="0" smtClean="0"/>
              <a:t>. </a:t>
            </a:r>
            <a:endParaRPr lang="en-US" sz="2800" dirty="0">
              <a:latin typeface="Arial Black" panose="020B0A04020102020204" pitchFamily="34" charset="0"/>
            </a:endParaRPr>
          </a:p>
        </p:txBody>
      </p:sp>
      <p:sp>
        <p:nvSpPr>
          <p:cNvPr id="3" name="Subtitle 2"/>
          <p:cNvSpPr>
            <a:spLocks noGrp="1"/>
          </p:cNvSpPr>
          <p:nvPr>
            <p:ph type="subTitle" idx="1"/>
          </p:nvPr>
        </p:nvSpPr>
        <p:spPr>
          <a:xfrm>
            <a:off x="1433848" y="1777285"/>
            <a:ext cx="9144000" cy="5879205"/>
          </a:xfrm>
        </p:spPr>
        <p:txBody>
          <a:bodyPr>
            <a:normAutofit/>
          </a:bodyPr>
          <a:lstStyle/>
          <a:p>
            <a:pPr marL="342900" indent="-342900" algn="just">
              <a:buFont typeface="Wingdings" panose="05000000000000000000" pitchFamily="2" charset="2"/>
              <a:buChar char="Ø"/>
            </a:pPr>
            <a:r>
              <a:rPr lang="en-US" sz="1800" dirty="0" smtClean="0"/>
              <a:t>The main objective is to develop a functional AI-assisted comic story creator that demonstrates practical use of Gemini models in a creative application.</a:t>
            </a:r>
          </a:p>
          <a:p>
            <a:pPr marL="342900" indent="-342900" algn="just">
              <a:buFont typeface="Wingdings" panose="05000000000000000000" pitchFamily="2" charset="2"/>
              <a:buChar char="Ø"/>
            </a:pPr>
            <a:r>
              <a:rPr lang="en-US" sz="1800" dirty="0" smtClean="0"/>
              <a:t>The work can be divided into requirement collection, UI design, API setup, prompt engineering, backend or application logic, Gemini integration, output formatting, testing, documentation, and demonstration preparation.</a:t>
            </a:r>
          </a:p>
          <a:p>
            <a:pPr marL="342900" indent="-342900" algn="just">
              <a:buFont typeface="Wingdings" panose="05000000000000000000" pitchFamily="2" charset="2"/>
              <a:buChar char="Ø"/>
            </a:pPr>
            <a:r>
              <a:rPr lang="en-US" sz="1800" dirty="0" smtClean="0"/>
              <a:t>Week 1: brainstorming and requirements. Week 2: system and UI design. Week 3: Gemini integration and core development. Week 4: story formatting and feature refinement. Week 5: testing and bug fixing. Week 6: documentation, presentation, and final demonstration.</a:t>
            </a:r>
          </a:p>
          <a:p>
            <a:pPr marL="342900" indent="-342900" algn="just">
              <a:buFont typeface="Wingdings" panose="05000000000000000000" pitchFamily="2" charset="2"/>
              <a:buChar char="Ø"/>
            </a:pPr>
            <a:r>
              <a:rPr lang="en-US" sz="1800" dirty="0" smtClean="0"/>
              <a:t>Possible roles include project coordinator, UI developer, application/backend developer, AI prompt and integration developer, tester, and documentation/presentation member.</a:t>
            </a:r>
          </a:p>
          <a:p>
            <a:pPr marL="342900" indent="-342900" algn="just">
              <a:buFont typeface="Wingdings" panose="05000000000000000000" pitchFamily="2" charset="2"/>
              <a:buChar char="Ø"/>
            </a:pPr>
            <a:r>
              <a:rPr lang="en-US" sz="1800" dirty="0" smtClean="0"/>
              <a:t> In a small student project, one person can perform multiple roles.</a:t>
            </a:r>
            <a:endParaRPr lang="en-US" sz="1800" dirty="0"/>
          </a:p>
        </p:txBody>
      </p:sp>
    </p:spTree>
    <p:extLst>
      <p:ext uri="{BB962C8B-B14F-4D97-AF65-F5344CB8AC3E}">
        <p14:creationId xmlns:p14="http://schemas.microsoft.com/office/powerpoint/2010/main" val="30603739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149" y="309091"/>
            <a:ext cx="10515600" cy="759855"/>
          </a:xfrm>
        </p:spPr>
        <p:txBody>
          <a:bodyPr>
            <a:normAutofit/>
          </a:bodyPr>
          <a:lstStyle/>
          <a:p>
            <a:r>
              <a:rPr lang="en-US" dirty="0" smtClean="0"/>
              <a:t> </a:t>
            </a:r>
            <a:r>
              <a:rPr lang="en-US" sz="2800" dirty="0" smtClean="0">
                <a:latin typeface="Arial Black" panose="020B0A04020102020204" pitchFamily="34" charset="0"/>
              </a:rPr>
              <a:t>Project Development Phase</a:t>
            </a:r>
            <a:endParaRPr lang="en-US" sz="2800" dirty="0">
              <a:latin typeface="Arial Black" panose="020B0A04020102020204" pitchFamily="34" charset="0"/>
            </a:endParaRPr>
          </a:p>
        </p:txBody>
      </p:sp>
      <p:sp>
        <p:nvSpPr>
          <p:cNvPr id="3" name="Content Placeholder 2"/>
          <p:cNvSpPr>
            <a:spLocks noGrp="1"/>
          </p:cNvSpPr>
          <p:nvPr>
            <p:ph idx="1"/>
          </p:nvPr>
        </p:nvSpPr>
        <p:spPr>
          <a:xfrm>
            <a:off x="748048" y="1506828"/>
            <a:ext cx="10515600" cy="5679583"/>
          </a:xfrm>
        </p:spPr>
        <p:txBody>
          <a:bodyPr>
            <a:noAutofit/>
          </a:bodyPr>
          <a:lstStyle/>
          <a:p>
            <a:pPr algn="just">
              <a:buFont typeface="Wingdings" panose="05000000000000000000" pitchFamily="2" charset="2"/>
              <a:buChar char="Ø"/>
            </a:pPr>
            <a:r>
              <a:rPr lang="en-US" sz="1800" dirty="0" smtClean="0"/>
              <a:t>The development phase begins by creating the project structure and configuring the required programming environment. Gemini API credentials should be stored securely and should not be hard-coded into publicly shared source code.</a:t>
            </a:r>
          </a:p>
          <a:p>
            <a:pPr algn="just">
              <a:buFont typeface="Wingdings" panose="05000000000000000000" pitchFamily="2" charset="2"/>
              <a:buChar char="Ø"/>
            </a:pPr>
            <a:r>
              <a:rPr lang="en-US" sz="1800" dirty="0" smtClean="0"/>
              <a:t>The interface is developed with fields for story prompts and optional parameters. The result section presents the generated comic in a readable structure, with headings for title, characters, panels, narration, and dialogue..</a:t>
            </a:r>
          </a:p>
          <a:p>
            <a:pPr algn="just">
              <a:buFont typeface="Wingdings" panose="05000000000000000000" pitchFamily="2" charset="2"/>
              <a:buChar char="Ø"/>
            </a:pPr>
            <a:r>
              <a:rPr lang="en-US" sz="1800" dirty="0" smtClean="0"/>
              <a:t>The application sends the user's request to the Gemini model through the appropriate API or SDK. A structured prompt is created to instruct the model to behave as a comic story creator and return the requested sections.</a:t>
            </a:r>
          </a:p>
          <a:p>
            <a:pPr algn="just">
              <a:buFont typeface="Wingdings" panose="05000000000000000000" pitchFamily="2" charset="2"/>
              <a:buChar char="Ø"/>
            </a:pPr>
            <a:r>
              <a:rPr lang="en-US" sz="1800" dirty="0" smtClean="0"/>
              <a:t>The generated response is received by the application and displayed as a comic script. The system can support regeneration when the user is not satisfied with a particular result.</a:t>
            </a:r>
          </a:p>
          <a:p>
            <a:pPr algn="just">
              <a:buFont typeface="Wingdings" panose="05000000000000000000" pitchFamily="2" charset="2"/>
              <a:buChar char="Ø"/>
            </a:pPr>
            <a:r>
              <a:rPr lang="en-US" sz="1800" dirty="0" smtClean="0"/>
              <a:t>The generated response is received by the application and displayed as a comic script. The system can support regeneration when the user is not </a:t>
            </a:r>
            <a:r>
              <a:rPr lang="en-US" sz="1800" dirty="0" err="1" smtClean="0"/>
              <a:t>satisfie</a:t>
            </a:r>
            <a:endParaRPr lang="en-US" sz="1800" dirty="0"/>
          </a:p>
        </p:txBody>
      </p:sp>
    </p:spTree>
    <p:extLst>
      <p:ext uri="{BB962C8B-B14F-4D97-AF65-F5344CB8AC3E}">
        <p14:creationId xmlns:p14="http://schemas.microsoft.com/office/powerpoint/2010/main" val="2823022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anose="020B0A04020102020204" pitchFamily="34" charset="0"/>
              </a:rPr>
              <a:t>                Project Testing Phase</a:t>
            </a:r>
            <a:endParaRPr lang="en-US" sz="2800" dirty="0">
              <a:latin typeface="Arial Black" panose="020B0A04020102020204" pitchFamily="34" charset="0"/>
            </a:endParaRPr>
          </a:p>
        </p:txBody>
      </p:sp>
      <p:sp>
        <p:nvSpPr>
          <p:cNvPr id="3" name="Content Placeholder 2"/>
          <p:cNvSpPr>
            <a:spLocks noGrp="1"/>
          </p:cNvSpPr>
          <p:nvPr>
            <p:ph idx="1"/>
          </p:nvPr>
        </p:nvSpPr>
        <p:spPr>
          <a:xfrm>
            <a:off x="683653" y="1928657"/>
            <a:ext cx="10515600" cy="4351338"/>
          </a:xfrm>
        </p:spPr>
        <p:txBody>
          <a:bodyPr>
            <a:normAutofit/>
          </a:bodyPr>
          <a:lstStyle/>
          <a:p>
            <a:pPr algn="just">
              <a:buFont typeface="Wingdings" panose="05000000000000000000" pitchFamily="2" charset="2"/>
              <a:buChar char="Ø"/>
            </a:pPr>
            <a:r>
              <a:rPr lang="en-US" sz="1800" dirty="0" smtClean="0">
                <a:cs typeface="Times New Roman" panose="02020603050405020304" pitchFamily="18" charset="0"/>
              </a:rPr>
              <a:t>Testing verifies that </a:t>
            </a:r>
            <a:r>
              <a:rPr lang="en-US" sz="1800" dirty="0" err="1" smtClean="0">
                <a:cs typeface="Times New Roman" panose="02020603050405020304" pitchFamily="18" charset="0"/>
              </a:rPr>
              <a:t>ComicCraft</a:t>
            </a:r>
            <a:r>
              <a:rPr lang="en-US" sz="1800" dirty="0" smtClean="0">
                <a:cs typeface="Times New Roman" panose="02020603050405020304" pitchFamily="18" charset="0"/>
              </a:rPr>
              <a:t> functions correctly, produces useful outputs, handles invalid inputs, and provides a stable user experience.</a:t>
            </a:r>
          </a:p>
          <a:p>
            <a:pPr algn="just">
              <a:buFont typeface="Wingdings" panose="05000000000000000000" pitchFamily="2" charset="2"/>
              <a:buChar char="Ø"/>
            </a:pPr>
            <a:r>
              <a:rPr lang="en-US" sz="1800" dirty="0" smtClean="0">
                <a:cs typeface="Times New Roman" panose="02020603050405020304" pitchFamily="18" charset="0"/>
              </a:rPr>
              <a:t>Individual functions such as input validation, prompt construction, API response handling, and output formatting can be tested separately.</a:t>
            </a:r>
          </a:p>
          <a:p>
            <a:pPr algn="just">
              <a:buFont typeface="Wingdings" panose="05000000000000000000" pitchFamily="2" charset="2"/>
              <a:buChar char="Ø"/>
            </a:pPr>
            <a:r>
              <a:rPr lang="en-US" sz="1800" dirty="0" smtClean="0">
                <a:cs typeface="Times New Roman" panose="02020603050405020304" pitchFamily="18" charset="0"/>
              </a:rPr>
              <a:t>Integration testing verifies communication between the user interface, application logic, Gemini service, and output display.</a:t>
            </a:r>
          </a:p>
          <a:p>
            <a:pPr algn="just">
              <a:buFont typeface="Wingdings" panose="05000000000000000000" pitchFamily="2" charset="2"/>
              <a:buChar char="Ø"/>
            </a:pPr>
            <a:r>
              <a:rPr lang="en-US" sz="1800" dirty="0" smtClean="0">
                <a:cs typeface="Times New Roman" panose="02020603050405020304" pitchFamily="18" charset="0"/>
              </a:rPr>
              <a:t>Test cases should verify story generation, genre selection, character generation, panel generation, editing, regeneration, and error messages.</a:t>
            </a:r>
          </a:p>
          <a:p>
            <a:pPr algn="just">
              <a:buFont typeface="Wingdings" panose="05000000000000000000" pitchFamily="2" charset="2"/>
              <a:buChar char="Ø"/>
            </a:pPr>
            <a:r>
              <a:rPr lang="en-US" sz="1800" dirty="0" smtClean="0">
                <a:cs typeface="Times New Roman" panose="02020603050405020304" pitchFamily="18" charset="0"/>
              </a:rPr>
              <a:t>A small group of users can try the system and provide feedback about ease of use, clarity of instructions, response presentation, and overall workflow.</a:t>
            </a:r>
            <a:endParaRPr lang="en-US" sz="1800" dirty="0">
              <a:cs typeface="Times New Roman" panose="02020603050405020304" pitchFamily="18" charset="0"/>
            </a:endParaRPr>
          </a:p>
        </p:txBody>
      </p:sp>
    </p:spTree>
    <p:extLst>
      <p:ext uri="{BB962C8B-B14F-4D97-AF65-F5344CB8AC3E}">
        <p14:creationId xmlns:p14="http://schemas.microsoft.com/office/powerpoint/2010/main" val="30768781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2800" dirty="0" smtClean="0">
                <a:latin typeface="Arial Black" panose="020B0A04020102020204" pitchFamily="34" charset="0"/>
              </a:rPr>
              <a:t>Project Documentation Phase</a:t>
            </a:r>
            <a:endParaRPr lang="en-US" sz="2800"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000" dirty="0" smtClean="0"/>
              <a:t>Documentation records the project idea, requirements, design, implementation, testing, and demonstration so that another person can understand and maintain the system.</a:t>
            </a:r>
          </a:p>
          <a:p>
            <a:pPr>
              <a:buFont typeface="Wingdings" panose="05000000000000000000" pitchFamily="2" charset="2"/>
              <a:buChar char="Ø"/>
            </a:pPr>
            <a:r>
              <a:rPr lang="en-US" sz="2000" dirty="0" smtClean="0"/>
              <a:t>The final documentation should include title page, abstract, introduction, problem statement, objectives, existing and proposed system, requirements, architecture, modules, implementation details, testing, results, limitations, future enhancements, conclusion, and references.</a:t>
            </a:r>
          </a:p>
          <a:p>
            <a:pPr>
              <a:buFont typeface="Wingdings" panose="05000000000000000000" pitchFamily="2" charset="2"/>
              <a:buChar char="Ø"/>
            </a:pPr>
            <a:r>
              <a:rPr lang="en-US" sz="2000" dirty="0" smtClean="0"/>
              <a:t>Screenshots can be included for the home page, prompt input, settings, generated comic output, regeneration/editing, and final result. </a:t>
            </a:r>
            <a:endParaRPr lang="en-US" sz="2000" dirty="0"/>
          </a:p>
          <a:p>
            <a:pPr>
              <a:buFont typeface="Wingdings" panose="05000000000000000000" pitchFamily="2" charset="2"/>
              <a:buChar char="Ø"/>
            </a:pPr>
            <a:r>
              <a:rPr lang="en-US" sz="2000" dirty="0" smtClean="0"/>
              <a:t>The results section should explain how </a:t>
            </a:r>
            <a:r>
              <a:rPr lang="en-US" sz="2000" dirty="0" err="1" smtClean="0"/>
              <a:t>ComicCraft</a:t>
            </a:r>
            <a:r>
              <a:rPr lang="en-US" sz="2000" dirty="0" smtClean="0"/>
              <a:t> converts a simple user idea into a structured comic story using Gemini models.</a:t>
            </a:r>
          </a:p>
          <a:p>
            <a:pPr algn="just">
              <a:buFont typeface="Wingdings" panose="05000000000000000000" pitchFamily="2" charset="2"/>
              <a:buChar char="Ø"/>
            </a:pPr>
            <a:r>
              <a:rPr lang="en-US" sz="2000" dirty="0" smtClean="0"/>
              <a:t>AI-generated stories may vary between requests and may occasionally contain continuity errors, repetitive content, or unsuitable details. Text generation alone does not automatically produce professionally illustrated comic artwork.</a:t>
            </a:r>
            <a:endParaRPr lang="en-US" sz="2000" dirty="0"/>
          </a:p>
        </p:txBody>
      </p:sp>
    </p:spTree>
    <p:extLst>
      <p:ext uri="{BB962C8B-B14F-4D97-AF65-F5344CB8AC3E}">
        <p14:creationId xmlns:p14="http://schemas.microsoft.com/office/powerpoint/2010/main" val="2858492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Arial Black" panose="020B0A04020102020204" pitchFamily="34" charset="0"/>
              </a:rPr>
              <a:t>         Project Demonstration Phase</a:t>
            </a:r>
            <a:endParaRPr lang="en-US" sz="2800"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sz="1800" dirty="0" smtClean="0"/>
              <a:t>The demonstration shows the working </a:t>
            </a:r>
            <a:r>
              <a:rPr lang="en-US" sz="1800" dirty="0" err="1" smtClean="0"/>
              <a:t>ComicCraft</a:t>
            </a:r>
            <a:r>
              <a:rPr lang="en-US" sz="1800" dirty="0" smtClean="0"/>
              <a:t> application and explains how Gemini models are used in the system</a:t>
            </a:r>
          </a:p>
          <a:p>
            <a:pPr algn="just">
              <a:buFont typeface="Wingdings" panose="05000000000000000000" pitchFamily="2" charset="2"/>
              <a:buChar char="Ø"/>
            </a:pPr>
            <a:r>
              <a:rPr lang="en-US" sz="1800" dirty="0" smtClean="0"/>
              <a:t>Start by introducing the problem and objective. Open the application, enter a sample prompt, select a genre, generate the story, explain the title and characters, show the panel-by-panel output, demonstrate editing or regeneration, and conclude with the project benefits and future scope.</a:t>
            </a:r>
          </a:p>
          <a:p>
            <a:pPr algn="just">
              <a:buFont typeface="Wingdings" panose="05000000000000000000" pitchFamily="2" charset="2"/>
              <a:buChar char="Ø"/>
            </a:pPr>
            <a:r>
              <a:rPr lang="en-US" sz="1800" dirty="0" smtClean="0"/>
              <a:t>Start by introducing the problem and objective. Open the application, enter a sample prompt, select a genre, generate the story, explain the title and characters, show the panel-by-panel output, demonstrate editing or regeneration, and conclude with the project benefits and future scope.</a:t>
            </a:r>
          </a:p>
          <a:p>
            <a:pPr algn="just">
              <a:buFont typeface="Wingdings" panose="05000000000000000000" pitchFamily="2" charset="2"/>
              <a:buChar char="Ø"/>
            </a:pPr>
            <a:r>
              <a:rPr lang="en-US" sz="1800" dirty="0" smtClean="0"/>
              <a:t>During the demo, explain the user input, prompt construction, Gemini model interaction, generated story structure, response formatting, error handling, and testing results.</a:t>
            </a:r>
          </a:p>
          <a:p>
            <a:pPr algn="just">
              <a:buFont typeface="Wingdings" panose="05000000000000000000" pitchFamily="2" charset="2"/>
              <a:buChar char="Ø"/>
            </a:pPr>
            <a:r>
              <a:rPr lang="en-US" sz="1800" dirty="0" smtClean="0"/>
              <a:t>The final demonstration should clearly show that a user can provide a simple idea and receive a structured comic story through the </a:t>
            </a:r>
            <a:r>
              <a:rPr lang="en-US" sz="1800" dirty="0" err="1" smtClean="0"/>
              <a:t>ComicCraft</a:t>
            </a:r>
            <a:r>
              <a:rPr lang="en-US" sz="1800" dirty="0" smtClean="0"/>
              <a:t> interface</a:t>
            </a:r>
            <a:endParaRPr lang="en-US" sz="1800" dirty="0"/>
          </a:p>
        </p:txBody>
      </p:sp>
    </p:spTree>
    <p:extLst>
      <p:ext uri="{BB962C8B-B14F-4D97-AF65-F5344CB8AC3E}">
        <p14:creationId xmlns:p14="http://schemas.microsoft.com/office/powerpoint/2010/main" val="21542282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1441</Words>
  <Application>Microsoft Office PowerPoint</Application>
  <PresentationFormat>Widescreen</PresentationFormat>
  <Paragraphs>64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Project Planning Phase. </vt:lpstr>
      <vt:lpstr> Project Development Phase</vt:lpstr>
      <vt:lpstr>                Project Testing Phase</vt:lpstr>
      <vt:lpstr>       Project Documentation Phase</vt:lpstr>
      <vt:lpstr>         Project Demonstration Phase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System-3</dc:creator>
  <cp:lastModifiedBy>System-3</cp:lastModifiedBy>
  <cp:revision>9</cp:revision>
  <dcterms:created xsi:type="dcterms:W3CDTF">2026-09-29T04:36:41Z</dcterms:created>
  <dcterms:modified xsi:type="dcterms:W3CDTF">2026-09-29T08:16:39Z</dcterms:modified>
</cp:coreProperties>
</file>